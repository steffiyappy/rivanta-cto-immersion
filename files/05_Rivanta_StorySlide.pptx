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Your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247120" cy="29260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You are Aisha, Group Chief Technology Officer at Rivanta General Insurance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7295" cy="5285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743200" cy="5285232"/>
          </a:xfrm>
          <a:prstGeom prst="rect">
            <a:avLst/>
          </a:prstGeom>
          <a:solidFill>
            <a:srgbClr val="0F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2340864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700" b="1" i="0" spc="200">
                <a:solidFill>
                  <a:srgbClr val="93C5FD"/>
                </a:solidFill>
                <a:latin typeface="Segoe UI"/>
              </a:rPr>
              <a:t>M365 COPILOT · GROUP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2340864" cy="868680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From Triage</a:t>
            </a:r>
          </a:p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to Curation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51176"/>
            <a:ext cx="2340864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650" b="1" i="0" spc="200">
                <a:solidFill>
                  <a:srgbClr val="93C5FD"/>
                </a:solidFill>
                <a:latin typeface="Segoe UI"/>
              </a:rPr>
              <a:t>PERSONA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52344"/>
            <a:ext cx="2340864" cy="256032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Aisha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2340864" cy="457200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Group Chief Technology Officer</a:t>
            </a:r>
          </a:p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Rivanta General 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11296"/>
            <a:ext cx="2340864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650" b="1" i="0" spc="200">
                <a:solidFill>
                  <a:srgbClr val="93C5FD"/>
                </a:solidFill>
                <a:latin typeface="Segoe UI"/>
              </a:rPr>
              <a:t>THE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12464"/>
            <a:ext cx="2340864" cy="1280160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Q2 BTRC is on Friday morning. Half-year budget overruns, a risky cloud renewal, and a Steering Committee without a self-service policy tool. Clear it all in one morning.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38344"/>
            <a:ext cx="2340864" cy="777240"/>
          </a:xfrm>
          <a:prstGeom prst="roundRect">
            <a:avLst>
              <a:gd name="adj" fmla="val 12000"/>
            </a:avLst>
          </a:prstGeom>
          <a:solidFill>
            <a:srgbClr val="182E52"/>
          </a:solidFill>
          <a:ln w="6350">
            <a:solidFill>
              <a:srgbClr val="334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111496"/>
            <a:ext cx="2340864" cy="164592"/>
          </a:xfrm>
          <a:prstGeom prst="rect">
            <a:avLst/>
          </a:prstGeom>
          <a:noFill/>
        </p:spPr>
        <p:txBody>
          <a:bodyPr wrap="square" rIns="45720" tIns="0" bIns="0" anchor="t"/>
          <a:lstStyle/>
          <a:p>
            <a:pPr algn="l"/>
            <a:r>
              <a:rPr sz="650" b="1" i="0" spc="200">
                <a:solidFill>
                  <a:srgbClr val="93C5FD"/>
                </a:solidFill>
                <a:latin typeface="Segoe UI"/>
              </a:rPr>
              <a:t>THE PUNCHLINE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276088"/>
            <a:ext cx="2340864" cy="530352"/>
          </a:xfrm>
          <a:prstGeom prst="rect">
            <a:avLst/>
          </a:prstGeom>
          <a:noFill/>
        </p:spPr>
        <p:txBody>
          <a:bodyPr wrap="square" rIns="45720" tIns="0" bIns="0" anchor="t"/>
          <a:lstStyle/>
          <a:p>
            <a:pPr algn="l">
              <a:spcAft>
                <a:spcPts val="0"/>
              </a:spcAft>
            </a:pPr>
            <a:r>
              <a:rPr sz="1100" b="1" i="1">
                <a:solidFill>
                  <a:srgbClr val="FFFFFF"/>
                </a:solidFill>
                <a:latin typeface="Segoe UI"/>
              </a:rPr>
              <a:t>One morning. Ten tasks.</a:t>
            </a:r>
          </a:p>
          <a:p>
            <a:pPr algn="l"/>
            <a:r>
              <a:rPr sz="1100" b="1" i="1">
                <a:solidFill>
                  <a:srgbClr val="FFFFFF"/>
                </a:solidFill>
                <a:latin typeface="Segoe UI"/>
              </a:rPr>
              <a:t>From research to agent.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8534095" cy="52852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298448"/>
            <a:ext cx="8076895" cy="29260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Ten tasks across one morning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682496"/>
            <a:ext cx="8076895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Researcher + 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929384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929384"/>
            <a:ext cx="2631338" cy="20116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929384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01   RESEARCHER · CRITIQUE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148840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Benchmark the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350008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Benchmark Rivanta's tech posture against Etiqa, Allianz Malaysia, Tune Protect, and Liberty. Critique enforces citation grounding on every claim.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1778" y="1929384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1778" y="1929384"/>
            <a:ext cx="2631338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1778" y="1929384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02   MODEL COUNCIL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1778" y="2148840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Challenge the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1778" y="2350008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Multiple AI models assess the top technology risks for Malaysian general insurers. The cover letter flags where they agree and diverge.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74556" y="1929384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74556" y="1929384"/>
            <a:ext cx="2631338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74556" y="1929384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03   WORD 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4556" y="2148840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Write the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4556" y="2350008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Export the Researcher report to Word. Copilot drafts a one-page CTO briefing note for the BTRC Chair.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2843784"/>
            <a:ext cx="8076895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Budget &amp; Portfolio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090672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9000" y="3090672"/>
            <a:ext cx="2631338" cy="2011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3090672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04   EXCEL COPILOT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310128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Analyse &amp; comment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511296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YTD variance with RAG flags + a CTO board commentary in one prompt. Cost centres breaching the 10% threshold flagged for action.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1778" y="3090672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51778" y="3090672"/>
            <a:ext cx="2631338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51778" y="3090672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05   EXCEL COPILOT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1778" y="3310128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Build the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1778" y="3511296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Copilot builds a BTRC dashboard with a KPI row, a RAG bar chart, and a monthly trend line — formatted for the board pack.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74556" y="3090672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74556" y="3090672"/>
            <a:ext cx="2631338" cy="201168"/>
          </a:xfrm>
          <a:prstGeom prst="rect">
            <a:avLst/>
          </a:prstGeom>
          <a:solidFill>
            <a:srgbClr val="0F4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74556" y="3090672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06   ANALYST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4556" y="3310128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Interrogate the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74556" y="3511296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Drop in the budget data. Pivot tables, persistent-overspend flags, and a year-end exposure projection. No setup needed.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4005072"/>
            <a:ext cx="8076895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Risk &amp; Briefing Pack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29000" y="4251960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29000" y="4251960"/>
            <a:ext cx="2631338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29000" y="4251960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07   WORD COPILOT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4471416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Find the risks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4672584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Copilot reads the Skylane Cloud contract and surfaces every HIGH and MEDIUM risk clause with RM exposure estimates.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1778" y="4251960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51778" y="4251960"/>
            <a:ext cx="2631338" cy="20116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51778" y="4251960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08   POWERPOINT COPILOT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51778" y="4471416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Build the deck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1778" y="4672584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Copilot generates a 6-slide BTRC deck from your contract risk and budget findings. No slide design needed.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74556" y="4251960"/>
            <a:ext cx="2631338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74556" y="4251960"/>
            <a:ext cx="2631338" cy="201168"/>
          </a:xfrm>
          <a:prstGeom prst="rect">
            <a:avLst/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74556" y="4251960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09   COWORK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74556" y="4471416"/>
            <a:ext cx="2631338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Delegate five tasks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74556" y="4672584"/>
            <a:ext cx="2631338" cy="420624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Five parallel tasks: meeting summary, briefing note, secretariat email, calendar invite, and a Teams update.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0" y="5166360"/>
            <a:ext cx="8076895" cy="201168"/>
          </a:xfrm>
          <a:prstGeom prst="rect">
            <a:avLst/>
          </a:prstGeom>
          <a:noFill/>
        </p:spPr>
        <p:txBody>
          <a:bodyPr wrap="square" lIns="0" rIns="45720" tIns="0" bIns="0" anchor="t"/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Build Your Agent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413248"/>
            <a:ext cx="8076895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29000" y="5413248"/>
            <a:ext cx="8076895" cy="201168"/>
          </a:xfrm>
          <a:prstGeom prst="rect">
            <a:avLst/>
          </a:prstGeom>
          <a:solidFill>
            <a:srgbClr val="0F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29000" y="5413248"/>
            <a:ext cx="8076895" cy="201168"/>
          </a:xfrm>
          <a:prstGeom prst="rect">
            <a:avLst/>
          </a:prstGeom>
          <a:noFill/>
        </p:spPr>
        <p:txBody>
          <a:bodyPr wrap="square" lIns="73152" rIns="45720" tIns="0" bIns="0" anchor="ctr"/>
          <a:lstStyle/>
          <a:p>
            <a:pPr algn="l"/>
            <a:r>
              <a:rPr sz="700" b="1" i="0" spc="80">
                <a:solidFill>
                  <a:srgbClr val="FFFFFF"/>
                </a:solidFill>
                <a:latin typeface="Segoe UI"/>
              </a:rPr>
              <a:t>10   AGENT BUILDER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29000" y="5632704"/>
            <a:ext cx="8076895" cy="201168"/>
          </a:xfrm>
          <a:prstGeom prst="rect">
            <a:avLst/>
          </a:prstGeom>
          <a:noFill/>
        </p:spPr>
        <p:txBody>
          <a:bodyPr wrap="square" lIns="73152" rIns="45720" tIns="0" bIns="0" anchor="t"/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Build the future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9000" y="5833872"/>
            <a:ext cx="8076895" cy="109728"/>
          </a:xfrm>
          <a:prstGeom prst="rect">
            <a:avLst/>
          </a:prstGeom>
          <a:noFill/>
        </p:spPr>
        <p:txBody>
          <a:bodyPr wrap="square" lIns="73152" rIns="73152" tIns="0" bIns="36576" anchor="t"/>
          <a:lstStyle/>
          <a:p>
            <a:pPr algn="l"/>
            <a:r>
              <a:rPr sz="750" b="0" i="0">
                <a:solidFill>
                  <a:srgbClr val="475569"/>
                </a:solidFill>
                <a:latin typeface="Segoe UI"/>
              </a:rPr>
              <a:t>Build a custom agent grounded in your team's published policies. Choose: IT &amp; Tech Policy Advisor, Vendor Risk Assistant, or Tech Standards Coach.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6455664"/>
            <a:ext cx="11277295" cy="274320"/>
          </a:xfrm>
          <a:prstGeom prst="roundRect">
            <a:avLst>
              <a:gd name="adj" fmla="val 25000"/>
            </a:avLst>
          </a:prstGeom>
          <a:solidFill>
            <a:srgbClr val="FEF9C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6455664"/>
            <a:ext cx="73152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6455664"/>
            <a:ext cx="10911535" cy="274320"/>
          </a:xfrm>
          <a:prstGeom prst="rect">
            <a:avLst/>
          </a:prstGeom>
          <a:noFill/>
        </p:spPr>
        <p:txBody>
          <a:bodyPr wrap="none" lIns="45720" rIns="45720" tIns="0" bIns="0" anchor="ctr">
            <a:spAutoFit/>
          </a:bodyPr>
          <a:lstStyle/>
          <a:p>
            <a:pPr algn="l"/>
            <a:r>
              <a:rPr sz="1000" b="1">
                <a:solidFill>
                  <a:srgbClr val="78350F"/>
                </a:solidFill>
                <a:latin typeface="Segoe UI"/>
              </a:rPr>
              <a:t>THE VALUE:  </a:t>
            </a:r>
            <a:r>
              <a:rPr sz="1000">
                <a:solidFill>
                  <a:srgbClr val="78350F"/>
                </a:solidFill>
                <a:latin typeface="Segoe UI"/>
              </a:rPr>
              <a:t>One CTO. One morning. Research, analyse, review contracts, build a board deck, and deploy a custom Copilot agent — all without leaving Microsoft 365.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