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1247120" cy="502920"/>
          </a:xfrm>
          <a:prstGeom prst="rect">
            <a:avLst/>
          </a:prstGeom>
          <a:noFill/>
        </p:spPr>
        <p:txBody>
          <a:bodyPr wrap="square" lIns="0" rIns="45720" tIns="0" bIns="0" anchor="t"/>
          <a:lstStyle/>
          <a:p>
            <a:pPr algn="l"/>
            <a:r>
              <a:rPr sz="3000" b="1" i="0">
                <a:solidFill>
                  <a:srgbClr val="0F172A"/>
                </a:solidFill>
                <a:latin typeface="Segoe UI"/>
              </a:rPr>
              <a:t>Your Story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58952"/>
            <a:ext cx="11247120" cy="292608"/>
          </a:xfrm>
          <a:prstGeom prst="rect">
            <a:avLst/>
          </a:prstGeom>
          <a:noFill/>
        </p:spPr>
        <p:txBody>
          <a:bodyPr wrap="square" lIns="0" rIns="45720" tIns="0" bIns="0" anchor="t"/>
          <a:lstStyle/>
          <a:p>
            <a:pPr algn="l"/>
            <a:r>
              <a:rPr sz="1300" b="0" i="0">
                <a:solidFill>
                  <a:srgbClr val="475569"/>
                </a:solidFill>
                <a:latin typeface="Segoe UI"/>
              </a:rPr>
              <a:t>You are Aisha, Group Chief Technology Officer at Rivanta General Insurance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097280"/>
            <a:ext cx="11277295" cy="544068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097280"/>
            <a:ext cx="2743200" cy="5440680"/>
          </a:xfrm>
          <a:prstGeom prst="rect">
            <a:avLst/>
          </a:prstGeom>
          <a:solidFill>
            <a:srgbClr val="0F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353312"/>
            <a:ext cx="2340864" cy="201168"/>
          </a:xfrm>
          <a:prstGeom prst="rect">
            <a:avLst/>
          </a:prstGeom>
          <a:noFill/>
        </p:spPr>
        <p:txBody>
          <a:bodyPr wrap="square" lIns="0" rIns="45720" tIns="0" bIns="0" anchor="t"/>
          <a:lstStyle/>
          <a:p>
            <a:pPr algn="l"/>
            <a:r>
              <a:rPr sz="700" b="1" i="0" spc="200">
                <a:solidFill>
                  <a:srgbClr val="93C5FD"/>
                </a:solidFill>
                <a:latin typeface="Segoe UI"/>
              </a:rPr>
              <a:t>M365 COPILOT · GROUP TECHNOLOGY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572768"/>
            <a:ext cx="2340864" cy="777240"/>
          </a:xfrm>
          <a:prstGeom prst="rect">
            <a:avLst/>
          </a:prstGeom>
          <a:noFill/>
        </p:spPr>
        <p:txBody>
          <a:bodyPr wrap="square" lIns="0" rIns="45720" tIns="0" bIns="0" anchor="t"/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Segoe UI"/>
              </a:rPr>
              <a:t>From Triage</a:t>
            </a:r>
          </a:p>
          <a:p>
            <a:pPr algn="l"/>
            <a:r>
              <a:rPr sz="2400" b="1" i="0">
                <a:solidFill>
                  <a:srgbClr val="FFFFFF"/>
                </a:solidFill>
                <a:latin typeface="Segoe UI"/>
              </a:rPr>
              <a:t>to Curation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441448"/>
            <a:ext cx="2340864" cy="201168"/>
          </a:xfrm>
          <a:prstGeom prst="rect">
            <a:avLst/>
          </a:prstGeom>
          <a:noFill/>
        </p:spPr>
        <p:txBody>
          <a:bodyPr wrap="square" lIns="0" rIns="45720" tIns="0" bIns="0" anchor="t"/>
          <a:lstStyle/>
          <a:p>
            <a:pPr algn="l"/>
            <a:r>
              <a:rPr sz="650" b="1" i="0" spc="200">
                <a:solidFill>
                  <a:srgbClr val="93C5FD"/>
                </a:solidFill>
                <a:latin typeface="Segoe UI"/>
              </a:rPr>
              <a:t>PERSONA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624328"/>
            <a:ext cx="2340864" cy="237744"/>
          </a:xfrm>
          <a:prstGeom prst="rect">
            <a:avLst/>
          </a:prstGeom>
          <a:noFill/>
        </p:spPr>
        <p:txBody>
          <a:bodyPr wrap="square" lIns="0" rIns="45720" tIns="0" bIns="0" anchor="t"/>
          <a:lstStyle/>
          <a:p>
            <a:pPr algn="l"/>
            <a:r>
              <a:rPr sz="1400" b="1" i="0">
                <a:solidFill>
                  <a:srgbClr val="FFFFFF"/>
                </a:solidFill>
                <a:latin typeface="Segoe UI"/>
              </a:rPr>
              <a:t>Aisha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2862072"/>
            <a:ext cx="2340864" cy="457200"/>
          </a:xfrm>
          <a:prstGeom prst="rect">
            <a:avLst/>
          </a:prstGeom>
          <a:noFill/>
        </p:spPr>
        <p:txBody>
          <a:bodyPr wrap="square" lIns="0" rIns="45720" tIns="0" bIns="0" anchor="t"/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94A3B8"/>
                </a:solidFill>
                <a:latin typeface="Segoe UI"/>
              </a:rPr>
              <a:t>Group Chief Technology Officer</a:t>
            </a:r>
          </a:p>
          <a:p>
            <a:pPr algn="l"/>
            <a:r>
              <a:rPr sz="900" b="0" i="0">
                <a:solidFill>
                  <a:srgbClr val="94A3B8"/>
                </a:solidFill>
                <a:latin typeface="Segoe UI"/>
              </a:rPr>
              <a:t>Rivanta General Insurance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246120"/>
            <a:ext cx="2340864" cy="201168"/>
          </a:xfrm>
          <a:prstGeom prst="rect">
            <a:avLst/>
          </a:prstGeom>
          <a:noFill/>
        </p:spPr>
        <p:txBody>
          <a:bodyPr wrap="square" lIns="0" rIns="45720" tIns="0" bIns="0" anchor="t"/>
          <a:lstStyle/>
          <a:p>
            <a:pPr algn="l"/>
            <a:r>
              <a:rPr sz="650" b="1" i="0" spc="200">
                <a:solidFill>
                  <a:srgbClr val="93C5FD"/>
                </a:solidFill>
                <a:latin typeface="Segoe UI"/>
              </a:rPr>
              <a:t>THE MISSION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3429000"/>
            <a:ext cx="2340864" cy="1005840"/>
          </a:xfrm>
          <a:prstGeom prst="rect">
            <a:avLst/>
          </a:prstGeom>
          <a:noFill/>
        </p:spPr>
        <p:txBody>
          <a:bodyPr wrap="square" lIns="0" rIns="45720" tIns="0" bIns="0" anchor="t"/>
          <a:lstStyle/>
          <a:p>
            <a:pPr algn="l"/>
            <a:r>
              <a:rPr sz="900" b="0" i="0">
                <a:solidFill>
                  <a:srgbClr val="CBD5E1"/>
                </a:solidFill>
                <a:latin typeface="Segoe UI"/>
              </a:rPr>
              <a:t>Q2 BTRC is on Friday morning. Half-year budget overruns, a risky cloud renewal, and a Steering Committee without a self-service policy tool. Clear it all in one morning.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5568696"/>
            <a:ext cx="2340864" cy="749808"/>
          </a:xfrm>
          <a:prstGeom prst="roundRect">
            <a:avLst>
              <a:gd name="adj" fmla="val 12000"/>
            </a:avLst>
          </a:prstGeom>
          <a:solidFill>
            <a:srgbClr val="182E52"/>
          </a:solidFill>
          <a:ln w="6350">
            <a:solidFill>
              <a:srgbClr val="334A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5641848"/>
            <a:ext cx="2340864" cy="164592"/>
          </a:xfrm>
          <a:prstGeom prst="rect">
            <a:avLst/>
          </a:prstGeom>
          <a:noFill/>
        </p:spPr>
        <p:txBody>
          <a:bodyPr wrap="square" rIns="45720" tIns="0" bIns="0" anchor="t"/>
          <a:lstStyle/>
          <a:p>
            <a:pPr algn="l"/>
            <a:r>
              <a:rPr sz="650" b="1" i="0" spc="200">
                <a:solidFill>
                  <a:srgbClr val="93C5FD"/>
                </a:solidFill>
                <a:latin typeface="Segoe UI"/>
              </a:rPr>
              <a:t>THE PUNCHLINE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5806440"/>
            <a:ext cx="2340864" cy="512064"/>
          </a:xfrm>
          <a:prstGeom prst="rect">
            <a:avLst/>
          </a:prstGeom>
          <a:noFill/>
        </p:spPr>
        <p:txBody>
          <a:bodyPr wrap="square" rIns="45720" tIns="0" bIns="0" anchor="t"/>
          <a:lstStyle/>
          <a:p>
            <a:pPr algn="l">
              <a:spcAft>
                <a:spcPts val="0"/>
              </a:spcAft>
            </a:pPr>
            <a:r>
              <a:rPr sz="1100" b="1" i="1">
                <a:solidFill>
                  <a:srgbClr val="FFFFFF"/>
                </a:solidFill>
                <a:latin typeface="Segoe UI"/>
              </a:rPr>
              <a:t>One morning. Ten tasks.</a:t>
            </a:r>
          </a:p>
          <a:p>
            <a:pPr algn="l"/>
            <a:r>
              <a:rPr sz="1100" b="1" i="1">
                <a:solidFill>
                  <a:srgbClr val="FFFFFF"/>
                </a:solidFill>
                <a:latin typeface="Segoe UI"/>
              </a:rPr>
              <a:t>From research to agent.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0" y="1097280"/>
            <a:ext cx="8534095" cy="544068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29000" y="1298448"/>
            <a:ext cx="8076895" cy="292608"/>
          </a:xfrm>
          <a:prstGeom prst="rect">
            <a:avLst/>
          </a:prstGeom>
          <a:noFill/>
        </p:spPr>
        <p:txBody>
          <a:bodyPr wrap="square" lIns="0" rIns="45720" tIns="0" bIns="0" anchor="t"/>
          <a:lstStyle/>
          <a:p>
            <a:pPr algn="l"/>
            <a:r>
              <a:rPr sz="1600" b="1" i="0">
                <a:solidFill>
                  <a:srgbClr val="0F172A"/>
                </a:solidFill>
                <a:latin typeface="Segoe UI"/>
              </a:rPr>
              <a:t>Ten tasks across one morning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29000" y="1682496"/>
            <a:ext cx="8076895" cy="201168"/>
          </a:xfrm>
          <a:prstGeom prst="rect">
            <a:avLst/>
          </a:prstGeom>
          <a:noFill/>
        </p:spPr>
        <p:txBody>
          <a:bodyPr wrap="square" lIns="0" rIns="45720" tIns="0" bIns="0" anchor="t"/>
          <a:lstStyle/>
          <a:p>
            <a:pPr algn="l"/>
            <a:r>
              <a:rPr sz="1100" b="1" i="0">
                <a:solidFill>
                  <a:srgbClr val="0F172A"/>
                </a:solidFill>
                <a:latin typeface="Segoe UI"/>
              </a:rPr>
              <a:t>Researcher + Word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29000" y="1929384"/>
            <a:ext cx="2631338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29000" y="1929384"/>
            <a:ext cx="2631338" cy="201168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29000" y="1929384"/>
            <a:ext cx="2631338" cy="201168"/>
          </a:xfrm>
          <a:prstGeom prst="rect">
            <a:avLst/>
          </a:prstGeom>
          <a:noFill/>
        </p:spPr>
        <p:txBody>
          <a:bodyPr wrap="square" lIns="73152" rIns="45720" tIns="0" bIns="0" anchor="ctr"/>
          <a:lstStyle/>
          <a:p>
            <a:pPr algn="l"/>
            <a:r>
              <a:rPr sz="700" b="1" i="0" spc="80">
                <a:solidFill>
                  <a:srgbClr val="FFFFFF"/>
                </a:solidFill>
                <a:latin typeface="Segoe UI"/>
              </a:rPr>
              <a:t>01   RESEARCHER · CRITIQUE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29000" y="2148840"/>
            <a:ext cx="2631338" cy="201168"/>
          </a:xfrm>
          <a:prstGeom prst="rect">
            <a:avLst/>
          </a:prstGeom>
          <a:noFill/>
        </p:spPr>
        <p:txBody>
          <a:bodyPr wrap="square" lIns="73152" rIns="45720" tIns="0" bIns="0" anchor="t"/>
          <a:lstStyle/>
          <a:p>
            <a:pPr algn="l"/>
            <a:r>
              <a:rPr sz="950" b="1" i="0">
                <a:solidFill>
                  <a:srgbClr val="0F172A"/>
                </a:solidFill>
                <a:latin typeface="Segoe UI"/>
              </a:rPr>
              <a:t>Benchmark the market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29000" y="2350008"/>
            <a:ext cx="2631338" cy="420624"/>
          </a:xfrm>
          <a:prstGeom prst="rect">
            <a:avLst/>
          </a:prstGeom>
          <a:noFill/>
        </p:spPr>
        <p:txBody>
          <a:bodyPr wrap="square" lIns="73152" rIns="73152" tIns="0" bIns="36576" anchor="t"/>
          <a:lstStyle/>
          <a:p>
            <a:pPr algn="l"/>
            <a:r>
              <a:rPr sz="750" b="0" i="0">
                <a:solidFill>
                  <a:srgbClr val="475569"/>
                </a:solidFill>
                <a:latin typeface="Segoe UI"/>
              </a:rPr>
              <a:t>Benchmark Rivanta's tech posture against Etiqa, Allianz Malaysia, Tune Protect, and Liberty. Critique enforces citation grounding on every claim.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51778" y="1929384"/>
            <a:ext cx="2631338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51778" y="1929384"/>
            <a:ext cx="2631338" cy="20116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51778" y="1929384"/>
            <a:ext cx="2631338" cy="201168"/>
          </a:xfrm>
          <a:prstGeom prst="rect">
            <a:avLst/>
          </a:prstGeom>
          <a:noFill/>
        </p:spPr>
        <p:txBody>
          <a:bodyPr wrap="square" lIns="73152" rIns="45720" tIns="0" bIns="0" anchor="ctr"/>
          <a:lstStyle/>
          <a:p>
            <a:pPr algn="l"/>
            <a:r>
              <a:rPr sz="700" b="1" i="0" spc="80">
                <a:solidFill>
                  <a:srgbClr val="FFFFFF"/>
                </a:solidFill>
                <a:latin typeface="Segoe UI"/>
              </a:rPr>
              <a:t>02   MODEL COUNCIL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51778" y="2148840"/>
            <a:ext cx="2631338" cy="201168"/>
          </a:xfrm>
          <a:prstGeom prst="rect">
            <a:avLst/>
          </a:prstGeom>
          <a:noFill/>
        </p:spPr>
        <p:txBody>
          <a:bodyPr wrap="square" lIns="73152" rIns="45720" tIns="0" bIns="0" anchor="t"/>
          <a:lstStyle/>
          <a:p>
            <a:pPr algn="l"/>
            <a:r>
              <a:rPr sz="950" b="1" i="0">
                <a:solidFill>
                  <a:srgbClr val="0F172A"/>
                </a:solidFill>
                <a:latin typeface="Segoe UI"/>
              </a:rPr>
              <a:t>Challenge the view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51778" y="2350008"/>
            <a:ext cx="2631338" cy="420624"/>
          </a:xfrm>
          <a:prstGeom prst="rect">
            <a:avLst/>
          </a:prstGeom>
          <a:noFill/>
        </p:spPr>
        <p:txBody>
          <a:bodyPr wrap="square" lIns="73152" rIns="73152" tIns="0" bIns="36576" anchor="t"/>
          <a:lstStyle/>
          <a:p>
            <a:pPr algn="l"/>
            <a:r>
              <a:rPr sz="750" b="0" i="0">
                <a:solidFill>
                  <a:srgbClr val="475569"/>
                </a:solidFill>
                <a:latin typeface="Segoe UI"/>
              </a:rPr>
              <a:t>Multiple AI models assess the top technology risks for Malaysian general insurers. The cover letter flags where they agree and diverge.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874556" y="1929384"/>
            <a:ext cx="2631338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874556" y="1929384"/>
            <a:ext cx="2631338" cy="20116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874556" y="1929384"/>
            <a:ext cx="2631338" cy="201168"/>
          </a:xfrm>
          <a:prstGeom prst="rect">
            <a:avLst/>
          </a:prstGeom>
          <a:noFill/>
        </p:spPr>
        <p:txBody>
          <a:bodyPr wrap="square" lIns="73152" rIns="45720" tIns="0" bIns="0" anchor="ctr"/>
          <a:lstStyle/>
          <a:p>
            <a:pPr algn="l"/>
            <a:r>
              <a:rPr sz="700" b="1" i="0" spc="80">
                <a:solidFill>
                  <a:srgbClr val="FFFFFF"/>
                </a:solidFill>
                <a:latin typeface="Segoe UI"/>
              </a:rPr>
              <a:t>03   WORD COPILOT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74556" y="2148840"/>
            <a:ext cx="2631338" cy="201168"/>
          </a:xfrm>
          <a:prstGeom prst="rect">
            <a:avLst/>
          </a:prstGeom>
          <a:noFill/>
        </p:spPr>
        <p:txBody>
          <a:bodyPr wrap="square" lIns="73152" rIns="45720" tIns="0" bIns="0" anchor="t"/>
          <a:lstStyle/>
          <a:p>
            <a:pPr algn="l"/>
            <a:r>
              <a:rPr sz="950" b="1" i="0">
                <a:solidFill>
                  <a:srgbClr val="0F172A"/>
                </a:solidFill>
                <a:latin typeface="Segoe UI"/>
              </a:rPr>
              <a:t>Write the brief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74556" y="2350008"/>
            <a:ext cx="2631338" cy="420624"/>
          </a:xfrm>
          <a:prstGeom prst="rect">
            <a:avLst/>
          </a:prstGeom>
          <a:noFill/>
        </p:spPr>
        <p:txBody>
          <a:bodyPr wrap="square" lIns="73152" rIns="73152" tIns="0" bIns="36576" anchor="t"/>
          <a:lstStyle/>
          <a:p>
            <a:pPr algn="l"/>
            <a:r>
              <a:rPr sz="750" b="0" i="0">
                <a:solidFill>
                  <a:srgbClr val="475569"/>
                </a:solidFill>
                <a:latin typeface="Segoe UI"/>
              </a:rPr>
              <a:t>Export the Researcher report to Word. Copilot drafts a one-page CTO briefing note for the BTRC Chair.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29000" y="2843784"/>
            <a:ext cx="8076895" cy="201168"/>
          </a:xfrm>
          <a:prstGeom prst="rect">
            <a:avLst/>
          </a:prstGeom>
          <a:noFill/>
        </p:spPr>
        <p:txBody>
          <a:bodyPr wrap="square" lIns="0" rIns="45720" tIns="0" bIns="0" anchor="t"/>
          <a:lstStyle/>
          <a:p>
            <a:pPr algn="l"/>
            <a:r>
              <a:rPr sz="1100" b="1" i="0">
                <a:solidFill>
                  <a:srgbClr val="0F172A"/>
                </a:solidFill>
                <a:latin typeface="Segoe UI"/>
              </a:rPr>
              <a:t>Budget &amp; Portfolio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429000" y="3090672"/>
            <a:ext cx="2631338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429000" y="3090672"/>
            <a:ext cx="2631338" cy="201168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429000" y="3090672"/>
            <a:ext cx="2631338" cy="201168"/>
          </a:xfrm>
          <a:prstGeom prst="rect">
            <a:avLst/>
          </a:prstGeom>
          <a:noFill/>
        </p:spPr>
        <p:txBody>
          <a:bodyPr wrap="square" lIns="73152" rIns="45720" tIns="0" bIns="0" anchor="ctr"/>
          <a:lstStyle/>
          <a:p>
            <a:pPr algn="l"/>
            <a:r>
              <a:rPr sz="700" b="1" i="0" spc="80">
                <a:solidFill>
                  <a:srgbClr val="FFFFFF"/>
                </a:solidFill>
                <a:latin typeface="Segoe UI"/>
              </a:rPr>
              <a:t>04   EXCEL COPILOT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429000" y="3310128"/>
            <a:ext cx="2631338" cy="201168"/>
          </a:xfrm>
          <a:prstGeom prst="rect">
            <a:avLst/>
          </a:prstGeom>
          <a:noFill/>
        </p:spPr>
        <p:txBody>
          <a:bodyPr wrap="square" lIns="73152" rIns="45720" tIns="0" bIns="0" anchor="t"/>
          <a:lstStyle/>
          <a:p>
            <a:pPr algn="l"/>
            <a:r>
              <a:rPr sz="950" b="1" i="0">
                <a:solidFill>
                  <a:srgbClr val="0F172A"/>
                </a:solidFill>
                <a:latin typeface="Segoe UI"/>
              </a:rPr>
              <a:t>Analyse &amp; comment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29000" y="3511296"/>
            <a:ext cx="2631338" cy="420624"/>
          </a:xfrm>
          <a:prstGeom prst="rect">
            <a:avLst/>
          </a:prstGeom>
          <a:noFill/>
        </p:spPr>
        <p:txBody>
          <a:bodyPr wrap="square" lIns="73152" rIns="73152" tIns="0" bIns="36576" anchor="t"/>
          <a:lstStyle/>
          <a:p>
            <a:pPr algn="l"/>
            <a:r>
              <a:rPr sz="750" b="0" i="0">
                <a:solidFill>
                  <a:srgbClr val="475569"/>
                </a:solidFill>
                <a:latin typeface="Segoe UI"/>
              </a:rPr>
              <a:t>YTD variance with RAG flags + a CTO board commentary in one prompt. Cost centres breaching the 10% threshold flagged for action.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151778" y="3090672"/>
            <a:ext cx="2631338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151778" y="3090672"/>
            <a:ext cx="2631338" cy="20116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51778" y="3090672"/>
            <a:ext cx="2631338" cy="201168"/>
          </a:xfrm>
          <a:prstGeom prst="rect">
            <a:avLst/>
          </a:prstGeom>
          <a:noFill/>
        </p:spPr>
        <p:txBody>
          <a:bodyPr wrap="square" lIns="73152" rIns="45720" tIns="0" bIns="0" anchor="ctr"/>
          <a:lstStyle/>
          <a:p>
            <a:pPr algn="l"/>
            <a:r>
              <a:rPr sz="700" b="1" i="0" spc="80">
                <a:solidFill>
                  <a:srgbClr val="FFFFFF"/>
                </a:solidFill>
                <a:latin typeface="Segoe UI"/>
              </a:rPr>
              <a:t>05   EXCEL COPILOT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51778" y="3310128"/>
            <a:ext cx="2631338" cy="201168"/>
          </a:xfrm>
          <a:prstGeom prst="rect">
            <a:avLst/>
          </a:prstGeom>
          <a:noFill/>
        </p:spPr>
        <p:txBody>
          <a:bodyPr wrap="square" lIns="73152" rIns="45720" tIns="0" bIns="0" anchor="t"/>
          <a:lstStyle/>
          <a:p>
            <a:pPr algn="l"/>
            <a:r>
              <a:rPr sz="950" b="1" i="0">
                <a:solidFill>
                  <a:srgbClr val="0F172A"/>
                </a:solidFill>
                <a:latin typeface="Segoe UI"/>
              </a:rPr>
              <a:t>Build the dashboard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51778" y="3511296"/>
            <a:ext cx="2631338" cy="420624"/>
          </a:xfrm>
          <a:prstGeom prst="rect">
            <a:avLst/>
          </a:prstGeom>
          <a:noFill/>
        </p:spPr>
        <p:txBody>
          <a:bodyPr wrap="square" lIns="73152" rIns="73152" tIns="0" bIns="36576" anchor="t"/>
          <a:lstStyle/>
          <a:p>
            <a:pPr algn="l"/>
            <a:r>
              <a:rPr sz="750" b="0" i="0">
                <a:solidFill>
                  <a:srgbClr val="475569"/>
                </a:solidFill>
                <a:latin typeface="Segoe UI"/>
              </a:rPr>
              <a:t>Copilot builds a BTRC dashboard with a KPI row, a RAG bar chart, and a monthly trend line — formatted for the board pack.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874556" y="3090672"/>
            <a:ext cx="2631338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874556" y="3090672"/>
            <a:ext cx="2631338" cy="201168"/>
          </a:xfrm>
          <a:prstGeom prst="rect">
            <a:avLst/>
          </a:prstGeom>
          <a:solidFill>
            <a:srgbClr val="0F4C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874556" y="3090672"/>
            <a:ext cx="2631338" cy="201168"/>
          </a:xfrm>
          <a:prstGeom prst="rect">
            <a:avLst/>
          </a:prstGeom>
          <a:noFill/>
        </p:spPr>
        <p:txBody>
          <a:bodyPr wrap="square" lIns="73152" rIns="45720" tIns="0" bIns="0" anchor="ctr"/>
          <a:lstStyle/>
          <a:p>
            <a:pPr algn="l"/>
            <a:r>
              <a:rPr sz="700" b="1" i="0" spc="80">
                <a:solidFill>
                  <a:srgbClr val="FFFFFF"/>
                </a:solidFill>
                <a:latin typeface="Segoe UI"/>
              </a:rPr>
              <a:t>06   ANALYST AGENT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874556" y="3310128"/>
            <a:ext cx="2631338" cy="201168"/>
          </a:xfrm>
          <a:prstGeom prst="rect">
            <a:avLst/>
          </a:prstGeom>
          <a:noFill/>
        </p:spPr>
        <p:txBody>
          <a:bodyPr wrap="square" lIns="73152" rIns="45720" tIns="0" bIns="0" anchor="t"/>
          <a:lstStyle/>
          <a:p>
            <a:pPr algn="l"/>
            <a:r>
              <a:rPr sz="950" b="1" i="0">
                <a:solidFill>
                  <a:srgbClr val="0F172A"/>
                </a:solidFill>
                <a:latin typeface="Segoe UI"/>
              </a:rPr>
              <a:t>Interrogate the data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874556" y="3511296"/>
            <a:ext cx="2631338" cy="420624"/>
          </a:xfrm>
          <a:prstGeom prst="rect">
            <a:avLst/>
          </a:prstGeom>
          <a:noFill/>
        </p:spPr>
        <p:txBody>
          <a:bodyPr wrap="square" lIns="73152" rIns="73152" tIns="0" bIns="36576" anchor="t"/>
          <a:lstStyle/>
          <a:p>
            <a:pPr algn="l"/>
            <a:r>
              <a:rPr sz="750" b="0" i="0">
                <a:solidFill>
                  <a:srgbClr val="475569"/>
                </a:solidFill>
                <a:latin typeface="Segoe UI"/>
              </a:rPr>
              <a:t>Drop in the budget data. Pivot tables, persistent-overspend flags, and a year-end exposure projection. No setup needed.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429000" y="4005072"/>
            <a:ext cx="8076895" cy="201168"/>
          </a:xfrm>
          <a:prstGeom prst="rect">
            <a:avLst/>
          </a:prstGeom>
          <a:noFill/>
        </p:spPr>
        <p:txBody>
          <a:bodyPr wrap="square" lIns="0" rIns="45720" tIns="0" bIns="0" anchor="t"/>
          <a:lstStyle/>
          <a:p>
            <a:pPr algn="l"/>
            <a:r>
              <a:rPr sz="1100" b="1" i="0">
                <a:solidFill>
                  <a:srgbClr val="0F172A"/>
                </a:solidFill>
                <a:latin typeface="Segoe UI"/>
              </a:rPr>
              <a:t>Risk &amp; Briefing Pack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3429000" y="4251960"/>
            <a:ext cx="2631338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429000" y="4251960"/>
            <a:ext cx="2631338" cy="20116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429000" y="4251960"/>
            <a:ext cx="2631338" cy="201168"/>
          </a:xfrm>
          <a:prstGeom prst="rect">
            <a:avLst/>
          </a:prstGeom>
          <a:noFill/>
        </p:spPr>
        <p:txBody>
          <a:bodyPr wrap="square" lIns="73152" rIns="45720" tIns="0" bIns="0" anchor="ctr"/>
          <a:lstStyle/>
          <a:p>
            <a:pPr algn="l"/>
            <a:r>
              <a:rPr sz="700" b="1" i="0" spc="80">
                <a:solidFill>
                  <a:srgbClr val="FFFFFF"/>
                </a:solidFill>
                <a:latin typeface="Segoe UI"/>
              </a:rPr>
              <a:t>07   WORD COPILOT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429000" y="4471416"/>
            <a:ext cx="2631338" cy="201168"/>
          </a:xfrm>
          <a:prstGeom prst="rect">
            <a:avLst/>
          </a:prstGeom>
          <a:noFill/>
        </p:spPr>
        <p:txBody>
          <a:bodyPr wrap="square" lIns="73152" rIns="45720" tIns="0" bIns="0" anchor="t"/>
          <a:lstStyle/>
          <a:p>
            <a:pPr algn="l"/>
            <a:r>
              <a:rPr sz="950" b="1" i="0">
                <a:solidFill>
                  <a:srgbClr val="0F172A"/>
                </a:solidFill>
                <a:latin typeface="Segoe UI"/>
              </a:rPr>
              <a:t>Find the risks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29000" y="4672584"/>
            <a:ext cx="2631338" cy="420624"/>
          </a:xfrm>
          <a:prstGeom prst="rect">
            <a:avLst/>
          </a:prstGeom>
          <a:noFill/>
        </p:spPr>
        <p:txBody>
          <a:bodyPr wrap="square" lIns="73152" rIns="73152" tIns="0" bIns="36576" anchor="t"/>
          <a:lstStyle/>
          <a:p>
            <a:pPr algn="l"/>
            <a:r>
              <a:rPr sz="750" b="0" i="0">
                <a:solidFill>
                  <a:srgbClr val="475569"/>
                </a:solidFill>
                <a:latin typeface="Segoe UI"/>
              </a:rPr>
              <a:t>Copilot reads the Skylane Cloud contract and surfaces every HIGH and MEDIUM risk clause with RM exposure estimates.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151778" y="4251960"/>
            <a:ext cx="2631338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151778" y="4251960"/>
            <a:ext cx="2631338" cy="201168"/>
          </a:xfrm>
          <a:prstGeom prst="rect">
            <a:avLst/>
          </a:prstGeom>
          <a:solidFill>
            <a:srgbClr val="7E2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151778" y="4251960"/>
            <a:ext cx="2631338" cy="201168"/>
          </a:xfrm>
          <a:prstGeom prst="rect">
            <a:avLst/>
          </a:prstGeom>
          <a:noFill/>
        </p:spPr>
        <p:txBody>
          <a:bodyPr wrap="square" lIns="73152" rIns="45720" tIns="0" bIns="0" anchor="ctr"/>
          <a:lstStyle/>
          <a:p>
            <a:pPr algn="l"/>
            <a:r>
              <a:rPr sz="700" b="1" i="0" spc="80">
                <a:solidFill>
                  <a:srgbClr val="FFFFFF"/>
                </a:solidFill>
                <a:latin typeface="Segoe UI"/>
              </a:rPr>
              <a:t>08   POWERPOINT COPILOT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151778" y="4471416"/>
            <a:ext cx="2631338" cy="201168"/>
          </a:xfrm>
          <a:prstGeom prst="rect">
            <a:avLst/>
          </a:prstGeom>
          <a:noFill/>
        </p:spPr>
        <p:txBody>
          <a:bodyPr wrap="square" lIns="73152" rIns="45720" tIns="0" bIns="0" anchor="t"/>
          <a:lstStyle/>
          <a:p>
            <a:pPr algn="l"/>
            <a:r>
              <a:rPr sz="950" b="1" i="0">
                <a:solidFill>
                  <a:srgbClr val="0F172A"/>
                </a:solidFill>
                <a:latin typeface="Segoe UI"/>
              </a:rPr>
              <a:t>Build the deck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151778" y="4672584"/>
            <a:ext cx="2631338" cy="420624"/>
          </a:xfrm>
          <a:prstGeom prst="rect">
            <a:avLst/>
          </a:prstGeom>
          <a:noFill/>
        </p:spPr>
        <p:txBody>
          <a:bodyPr wrap="square" lIns="73152" rIns="73152" tIns="0" bIns="36576" anchor="t"/>
          <a:lstStyle/>
          <a:p>
            <a:pPr algn="l"/>
            <a:r>
              <a:rPr sz="750" b="0" i="0">
                <a:solidFill>
                  <a:srgbClr val="475569"/>
                </a:solidFill>
                <a:latin typeface="Segoe UI"/>
              </a:rPr>
              <a:t>Copilot generates a 6-slide BTRC deck from your contract risk and budget findings. No slide design needed.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874556" y="4251960"/>
            <a:ext cx="2631338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8874556" y="4251960"/>
            <a:ext cx="2631338" cy="201168"/>
          </a:xfrm>
          <a:prstGeom prst="rect">
            <a:avLst/>
          </a:prstGeom>
          <a:solidFill>
            <a:srgbClr val="9D17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874556" y="4251960"/>
            <a:ext cx="2631338" cy="201168"/>
          </a:xfrm>
          <a:prstGeom prst="rect">
            <a:avLst/>
          </a:prstGeom>
          <a:noFill/>
        </p:spPr>
        <p:txBody>
          <a:bodyPr wrap="square" lIns="73152" rIns="45720" tIns="0" bIns="0" anchor="ctr"/>
          <a:lstStyle/>
          <a:p>
            <a:pPr algn="l"/>
            <a:r>
              <a:rPr sz="700" b="1" i="0" spc="80">
                <a:solidFill>
                  <a:srgbClr val="FFFFFF"/>
                </a:solidFill>
                <a:latin typeface="Segoe UI"/>
              </a:rPr>
              <a:t>09   COWORK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874556" y="4471416"/>
            <a:ext cx="2631338" cy="201168"/>
          </a:xfrm>
          <a:prstGeom prst="rect">
            <a:avLst/>
          </a:prstGeom>
          <a:noFill/>
        </p:spPr>
        <p:txBody>
          <a:bodyPr wrap="square" lIns="73152" rIns="45720" tIns="0" bIns="0" anchor="t"/>
          <a:lstStyle/>
          <a:p>
            <a:pPr algn="l"/>
            <a:r>
              <a:rPr sz="950" b="1" i="0">
                <a:solidFill>
                  <a:srgbClr val="0F172A"/>
                </a:solidFill>
                <a:latin typeface="Segoe UI"/>
              </a:rPr>
              <a:t>Delegate five tasks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874556" y="4672584"/>
            <a:ext cx="2631338" cy="420624"/>
          </a:xfrm>
          <a:prstGeom prst="rect">
            <a:avLst/>
          </a:prstGeom>
          <a:noFill/>
        </p:spPr>
        <p:txBody>
          <a:bodyPr wrap="square" lIns="73152" rIns="73152" tIns="0" bIns="36576" anchor="t"/>
          <a:lstStyle/>
          <a:p>
            <a:pPr algn="l"/>
            <a:r>
              <a:rPr sz="750" b="0" i="0">
                <a:solidFill>
                  <a:srgbClr val="475569"/>
                </a:solidFill>
                <a:latin typeface="Segoe UI"/>
              </a:rPr>
              <a:t>Five parallel tasks: meeting summary, briefing note, secretariat email, calendar invite, and a Teams update.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429000" y="5166360"/>
            <a:ext cx="8076895" cy="201168"/>
          </a:xfrm>
          <a:prstGeom prst="rect">
            <a:avLst/>
          </a:prstGeom>
          <a:noFill/>
        </p:spPr>
        <p:txBody>
          <a:bodyPr wrap="square" lIns="0" rIns="45720" tIns="0" bIns="0" anchor="t"/>
          <a:lstStyle/>
          <a:p>
            <a:pPr algn="l"/>
            <a:r>
              <a:rPr sz="1100" b="1" i="0">
                <a:solidFill>
                  <a:srgbClr val="0F172A"/>
                </a:solidFill>
                <a:latin typeface="Segoe UI"/>
              </a:rPr>
              <a:t>Build Your Agent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3429000" y="5413248"/>
            <a:ext cx="8076895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3429000" y="5413248"/>
            <a:ext cx="8076895" cy="201168"/>
          </a:xfrm>
          <a:prstGeom prst="rect">
            <a:avLst/>
          </a:prstGeom>
          <a:solidFill>
            <a:srgbClr val="0F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3429000" y="5413248"/>
            <a:ext cx="8076895" cy="201168"/>
          </a:xfrm>
          <a:prstGeom prst="rect">
            <a:avLst/>
          </a:prstGeom>
          <a:noFill/>
        </p:spPr>
        <p:txBody>
          <a:bodyPr wrap="square" lIns="73152" rIns="45720" tIns="0" bIns="0" anchor="ctr"/>
          <a:lstStyle/>
          <a:p>
            <a:pPr algn="l"/>
            <a:r>
              <a:rPr sz="700" b="1" i="0" spc="80">
                <a:solidFill>
                  <a:srgbClr val="FFFFFF"/>
                </a:solidFill>
                <a:latin typeface="Segoe UI"/>
              </a:rPr>
              <a:t>10   AGENT BUILDER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429000" y="5632704"/>
            <a:ext cx="8076895" cy="201168"/>
          </a:xfrm>
          <a:prstGeom prst="rect">
            <a:avLst/>
          </a:prstGeom>
          <a:noFill/>
        </p:spPr>
        <p:txBody>
          <a:bodyPr wrap="square" lIns="73152" rIns="45720" tIns="0" bIns="0" anchor="t"/>
          <a:lstStyle/>
          <a:p>
            <a:pPr algn="l"/>
            <a:r>
              <a:rPr sz="950" b="1" i="0">
                <a:solidFill>
                  <a:srgbClr val="0F172A"/>
                </a:solidFill>
                <a:latin typeface="Segoe UI"/>
              </a:rPr>
              <a:t>Build the future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29000" y="5833872"/>
            <a:ext cx="8076895" cy="292608"/>
          </a:xfrm>
          <a:prstGeom prst="rect">
            <a:avLst/>
          </a:prstGeom>
          <a:noFill/>
        </p:spPr>
        <p:txBody>
          <a:bodyPr wrap="square" lIns="73152" rIns="73152" tIns="0" bIns="36576" anchor="t"/>
          <a:lstStyle/>
          <a:p>
            <a:pPr algn="l"/>
            <a:r>
              <a:rPr sz="750" b="0" i="0">
                <a:solidFill>
                  <a:srgbClr val="475569"/>
                </a:solidFill>
                <a:latin typeface="Segoe UI"/>
              </a:rPr>
              <a:t>Build a custom agent grounded in your team's published policies. Choose: IT &amp; Tech Policy Advisor, Vendor Risk Assistant, or Tech Standards Coach.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457200" y="6629400"/>
            <a:ext cx="11277295" cy="256032"/>
          </a:xfrm>
          <a:prstGeom prst="roundRect">
            <a:avLst>
              <a:gd name="adj" fmla="val 25000"/>
            </a:avLst>
          </a:prstGeom>
          <a:solidFill>
            <a:srgbClr val="FEF9C3"/>
          </a:solidFill>
          <a:ln w="1270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457200" y="6629400"/>
            <a:ext cx="73152" cy="25603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40080" y="6629400"/>
            <a:ext cx="10911535" cy="256032"/>
          </a:xfrm>
          <a:prstGeom prst="rect">
            <a:avLst/>
          </a:prstGeom>
          <a:noFill/>
        </p:spPr>
        <p:txBody>
          <a:bodyPr wrap="none" lIns="45720" rIns="45720" tIns="0" bIns="0" anchor="ctr">
            <a:spAutoFit/>
          </a:bodyPr>
          <a:lstStyle/>
          <a:p>
            <a:pPr algn="l"/>
            <a:r>
              <a:rPr sz="1000" b="1">
                <a:solidFill>
                  <a:srgbClr val="78350F"/>
                </a:solidFill>
                <a:latin typeface="Segoe UI"/>
              </a:rPr>
              <a:t>THE VALUE:  </a:t>
            </a:r>
            <a:r>
              <a:rPr sz="1000">
                <a:solidFill>
                  <a:srgbClr val="78350F"/>
                </a:solidFill>
                <a:latin typeface="Segoe UI"/>
              </a:rPr>
              <a:t>One CTO. One morning. Research, analyse, review contracts, build a board deck, and deploy a custom Copilot agent — all without leaving Microsoft 365.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